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Barlow ExtraLight"/>
      <p:regular r:id="rId15"/>
      <p:bold r:id="rId16"/>
      <p:italic r:id="rId17"/>
      <p:boldItalic r:id="rId18"/>
    </p:embeddedFont>
    <p:embeddedFont>
      <p:font typeface="Hepta Slab Medium"/>
      <p:regular r:id="rId19"/>
      <p:bold r:id="rId20"/>
    </p:embeddedFont>
    <p:embeddedFont>
      <p:font typeface="Hepta Slab Light"/>
      <p:regular r:id="rId21"/>
      <p:bold r:id="rId22"/>
    </p:embeddedFont>
    <p:embeddedFont>
      <p:font typeface="Hepta Slab"/>
      <p:regular r:id="rId23"/>
      <p:bold r:id="rId24"/>
    </p:embeddedFont>
    <p:embeddedFont>
      <p:font typeface="Barlow Medium"/>
      <p:regular r:id="rId25"/>
      <p:bold r:id="rId26"/>
      <p:italic r:id="rId27"/>
      <p:boldItalic r:id="rId28"/>
    </p:embeddedFont>
    <p:embeddedFont>
      <p:font typeface="Barlow Light"/>
      <p:regular r:id="rId29"/>
      <p:bold r:id="rId30"/>
      <p:italic r:id="rId31"/>
      <p:boldItalic r:id="rId32"/>
    </p:embeddedFont>
    <p:embeddedFont>
      <p:font typeface="Barlow"/>
      <p:regular r:id="rId33"/>
      <p:bold r:id="rId34"/>
      <p:italic r:id="rId35"/>
      <p:boldItalic r:id="rId36"/>
    </p:embeddedFont>
    <p:embeddedFont>
      <p:font typeface="Nanum Myeongjo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ptaSlabMedium-bold.fntdata"/><Relationship Id="rId22" Type="http://schemas.openxmlformats.org/officeDocument/2006/relationships/font" Target="fonts/HeptaSlabLight-bold.fntdata"/><Relationship Id="rId21" Type="http://schemas.openxmlformats.org/officeDocument/2006/relationships/font" Target="fonts/HeptaSlabLight-regular.fntdata"/><Relationship Id="rId24" Type="http://schemas.openxmlformats.org/officeDocument/2006/relationships/font" Target="fonts/HeptaSlab-bold.fntdata"/><Relationship Id="rId23" Type="http://schemas.openxmlformats.org/officeDocument/2006/relationships/font" Target="fonts/Hepta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Medium-bold.fntdata"/><Relationship Id="rId25" Type="http://schemas.openxmlformats.org/officeDocument/2006/relationships/font" Target="fonts/BarlowMedium-regular.fntdata"/><Relationship Id="rId28" Type="http://schemas.openxmlformats.org/officeDocument/2006/relationships/font" Target="fonts/BarlowMedium-boldItalic.fntdata"/><Relationship Id="rId27" Type="http://schemas.openxmlformats.org/officeDocument/2006/relationships/font" Target="fonts/Barlow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Light-italic.fntdata"/><Relationship Id="rId30" Type="http://schemas.openxmlformats.org/officeDocument/2006/relationships/font" Target="fonts/BarlowLight-bold.fntdata"/><Relationship Id="rId11" Type="http://schemas.openxmlformats.org/officeDocument/2006/relationships/slide" Target="slides/slide6.xml"/><Relationship Id="rId33" Type="http://schemas.openxmlformats.org/officeDocument/2006/relationships/font" Target="fonts/Barlow-regular.fntdata"/><Relationship Id="rId10" Type="http://schemas.openxmlformats.org/officeDocument/2006/relationships/slide" Target="slides/slide5.xml"/><Relationship Id="rId32" Type="http://schemas.openxmlformats.org/officeDocument/2006/relationships/font" Target="fonts/Barlow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Barlow-italic.fntdata"/><Relationship Id="rId12" Type="http://schemas.openxmlformats.org/officeDocument/2006/relationships/slide" Target="slides/slide7.xml"/><Relationship Id="rId34" Type="http://schemas.openxmlformats.org/officeDocument/2006/relationships/font" Target="fonts/Barlow-bold.fntdata"/><Relationship Id="rId15" Type="http://schemas.openxmlformats.org/officeDocument/2006/relationships/font" Target="fonts/BarlowExtraLight-regular.fntdata"/><Relationship Id="rId37" Type="http://schemas.openxmlformats.org/officeDocument/2006/relationships/font" Target="fonts/NanumMyeongjo-regular.fntdata"/><Relationship Id="rId14" Type="http://schemas.openxmlformats.org/officeDocument/2006/relationships/slide" Target="slides/slide9.xml"/><Relationship Id="rId36" Type="http://schemas.openxmlformats.org/officeDocument/2006/relationships/font" Target="fonts/Barlow-boldItalic.fntdata"/><Relationship Id="rId17" Type="http://schemas.openxmlformats.org/officeDocument/2006/relationships/font" Target="fonts/BarlowExtraLight-italic.fntdata"/><Relationship Id="rId16" Type="http://schemas.openxmlformats.org/officeDocument/2006/relationships/font" Target="fonts/BarlowExtraLight-bold.fntdata"/><Relationship Id="rId38" Type="http://schemas.openxmlformats.org/officeDocument/2006/relationships/font" Target="fonts/NanumMyeongjo-bold.fntdata"/><Relationship Id="rId19" Type="http://schemas.openxmlformats.org/officeDocument/2006/relationships/font" Target="fonts/HeptaSlabMedium-regular.fntdata"/><Relationship Id="rId18" Type="http://schemas.openxmlformats.org/officeDocument/2006/relationships/font" Target="fonts/BarlowExtra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1bd8dcb0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1bd8dcb0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c27285c2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1c27285c2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1cc44e782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1cc44e782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1bd8dcb079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1bd8dcb07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1bd8dcb079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1bd8dcb079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1bd8dcb079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1bd8dcb079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1cc44e782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1cc44e782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c27285c2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c27285c2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1c27285c2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1c27285c2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Cash Vs Card Graphics in R</a:t>
            </a:r>
            <a:endParaRPr/>
          </a:p>
        </p:txBody>
      </p:sp>
      <p:sp>
        <p:nvSpPr>
          <p:cNvPr id="327" name="Google Shape;327;p47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By Keidrick, Cliff, and Austin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idx="1" type="subTitle"/>
          </p:nvPr>
        </p:nvSpPr>
        <p:spPr>
          <a:xfrm>
            <a:off x="480428" y="290623"/>
            <a:ext cx="56226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Breakdown</a:t>
            </a:r>
            <a:endParaRPr sz="2500"/>
          </a:p>
        </p:txBody>
      </p:sp>
      <p:sp>
        <p:nvSpPr>
          <p:cNvPr id="333" name="Google Shape;333;p48"/>
          <p:cNvSpPr txBox="1"/>
          <p:nvPr/>
        </p:nvSpPr>
        <p:spPr>
          <a:xfrm>
            <a:off x="5279375" y="1911125"/>
            <a:ext cx="3237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0" spcFirstLastPara="1" rIns="1828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Card reader was out for three months in August at Popeyes.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Cash payments were inflated due to this issue. 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34" name="Google Shape;334;p48"/>
          <p:cNvSpPr txBox="1"/>
          <p:nvPr/>
        </p:nvSpPr>
        <p:spPr>
          <a:xfrm>
            <a:off x="5279375" y="1576485"/>
            <a:ext cx="186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Constraints</a:t>
            </a:r>
            <a:endParaRPr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35" name="Google Shape;335;p48"/>
          <p:cNvSpPr txBox="1"/>
          <p:nvPr/>
        </p:nvSpPr>
        <p:spPr>
          <a:xfrm>
            <a:off x="5279375" y="3830075"/>
            <a:ext cx="31710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0" spcFirstLastPara="1" rIns="1828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Develop a system that tracks card vs. cash transactions.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Track the average cost of each transaction respectively.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36" name="Google Shape;336;p48"/>
          <p:cNvSpPr txBox="1"/>
          <p:nvPr/>
        </p:nvSpPr>
        <p:spPr>
          <a:xfrm>
            <a:off x="5279375" y="3495400"/>
            <a:ext cx="2248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Goals</a:t>
            </a:r>
            <a:endParaRPr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37" name="Google Shape;337;p48"/>
          <p:cNvSpPr txBox="1"/>
          <p:nvPr/>
        </p:nvSpPr>
        <p:spPr>
          <a:xfrm>
            <a:off x="791150" y="1911125"/>
            <a:ext cx="32739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0" spcFirstLastPara="1" rIns="18285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Customer Experience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Strategic Decision Making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Operational Efficiency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Customer Preferences and Behavior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791175" y="1576485"/>
            <a:ext cx="1860300" cy="24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Purpose</a:t>
            </a:r>
            <a:endParaRPr sz="100">
              <a:solidFill>
                <a:schemeClr val="lt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39" name="Google Shape;339;p48"/>
          <p:cNvSpPr txBox="1"/>
          <p:nvPr/>
        </p:nvSpPr>
        <p:spPr>
          <a:xfrm>
            <a:off x="791150" y="3830075"/>
            <a:ext cx="32739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0" spcFirstLastPara="1" rIns="1828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Card Transactions in store.</a:t>
            </a:r>
            <a:endParaRPr sz="11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Card Transactions through online/mobile orders.</a:t>
            </a:r>
            <a:endParaRPr sz="11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Cash Transactions in store. </a:t>
            </a:r>
            <a:endParaRPr sz="11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0" name="Google Shape;340;p48"/>
          <p:cNvSpPr txBox="1"/>
          <p:nvPr/>
        </p:nvSpPr>
        <p:spPr>
          <a:xfrm>
            <a:off x="791175" y="3495400"/>
            <a:ext cx="241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Metrics Analyzation</a:t>
            </a:r>
            <a:endParaRPr>
              <a:solidFill>
                <a:schemeClr val="dk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41" name="Google Shape;341;p4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/>
        </p:nvSpPr>
        <p:spPr>
          <a:xfrm>
            <a:off x="4765470" y="356101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Line Plot of Card Data</a:t>
            </a:r>
            <a:endParaRPr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54" name="Google Shape;354;p5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5" name="Google Shape;35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350" y="792975"/>
            <a:ext cx="4429650" cy="420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0"/>
          <p:cNvSpPr txBox="1"/>
          <p:nvPr/>
        </p:nvSpPr>
        <p:spPr>
          <a:xfrm>
            <a:off x="590675" y="356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Line Plot of Cash Data</a:t>
            </a:r>
            <a:endParaRPr/>
          </a:p>
        </p:txBody>
      </p:sp>
      <p:pic>
        <p:nvPicPr>
          <p:cNvPr id="357" name="Google Shape;35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08700"/>
            <a:ext cx="3876551" cy="3829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Cash vs Card Transactions</a:t>
            </a:r>
            <a:endParaRPr/>
          </a:p>
        </p:txBody>
      </p:sp>
      <p:sp>
        <p:nvSpPr>
          <p:cNvPr id="363" name="Google Shape;363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51"/>
          <p:cNvSpPr txBox="1"/>
          <p:nvPr/>
        </p:nvSpPr>
        <p:spPr>
          <a:xfrm>
            <a:off x="341925" y="2175250"/>
            <a:ext cx="37176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  <a:latin typeface="Barlow Light"/>
                <a:ea typeface="Barlow Light"/>
                <a:cs typeface="Barlow Light"/>
                <a:sym typeface="Barlow Light"/>
              </a:rPr>
              <a:t>On Average, Card users spent a total of $9.59.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65" name="Google Shape;365;p51"/>
          <p:cNvSpPr txBox="1"/>
          <p:nvPr/>
        </p:nvSpPr>
        <p:spPr>
          <a:xfrm>
            <a:off x="4572000" y="2037025"/>
            <a:ext cx="38088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Meanwhile, Cash users spent an average of $15.06.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66" name="Google Shape;366;p51"/>
          <p:cNvSpPr txBox="1"/>
          <p:nvPr/>
        </p:nvSpPr>
        <p:spPr>
          <a:xfrm>
            <a:off x="341921" y="3145053"/>
            <a:ext cx="38631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Cash users spent an average of 57.03%over those who paid in card. </a:t>
            </a:r>
            <a:endParaRPr sz="15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/>
          <p:nvPr>
            <p:ph idx="12" type="sldNum"/>
          </p:nvPr>
        </p:nvSpPr>
        <p:spPr>
          <a:xfrm>
            <a:off x="8475954" y="278704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2" name="Google Shape;37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4759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4463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idx="1" type="subTitle"/>
          </p:nvPr>
        </p:nvSpPr>
        <p:spPr>
          <a:xfrm>
            <a:off x="2083350" y="2320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83" name="Google Shape;383;p5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 users spend less on each transaction by more the 50%.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 users have greater transaction numbers and seem to be more frequent.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Overall, the conclusion is to offer as many payment types as possible but Tap to pay, Apple pay, and card readers are crucial for business. </a:t>
            </a:r>
            <a:endParaRPr/>
          </a:p>
        </p:txBody>
      </p:sp>
      <p:pic>
        <p:nvPicPr>
          <p:cNvPr id="384" name="Google Shape;38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150" y="2111313"/>
            <a:ext cx="2470249" cy="255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References</a:t>
            </a:r>
            <a:endParaRPr sz="2000"/>
          </a:p>
        </p:txBody>
      </p:sp>
      <p:sp>
        <p:nvSpPr>
          <p:cNvPr id="390" name="Google Shape;390;p55"/>
          <p:cNvSpPr txBox="1"/>
          <p:nvPr>
            <p:ph idx="2" type="body"/>
          </p:nvPr>
        </p:nvSpPr>
        <p:spPr>
          <a:xfrm>
            <a:off x="7872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1" name="Google Shape;391;p55"/>
          <p:cNvSpPr txBox="1"/>
          <p:nvPr>
            <p:ph idx="3" type="subTitle"/>
          </p:nvPr>
        </p:nvSpPr>
        <p:spPr>
          <a:xfrm>
            <a:off x="1699232" y="980273"/>
            <a:ext cx="67914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 Popeyes Louisiana Kitchen. (n.d.). About us. Retrieved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September 15, 2024, from https://www.popeyes.com/about-us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5"/>
          <p:cNvSpPr txBox="1"/>
          <p:nvPr>
            <p:ph idx="5" type="body"/>
          </p:nvPr>
        </p:nvSpPr>
        <p:spPr>
          <a:xfrm>
            <a:off x="787297" y="202091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3" name="Google Shape;393;p55"/>
          <p:cNvSpPr txBox="1"/>
          <p:nvPr>
            <p:ph idx="6" type="subTitle"/>
          </p:nvPr>
        </p:nvSpPr>
        <p:spPr>
          <a:xfrm>
            <a:off x="1743181" y="2020930"/>
            <a:ext cx="64629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 R Core Team. (2023). R: A language and environment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statistical computing [Software]. R Foundation for Statistical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Computing. https://www.R-project.org/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5"/>
          <p:cNvSpPr txBox="1"/>
          <p:nvPr>
            <p:ph idx="8" type="body"/>
          </p:nvPr>
        </p:nvSpPr>
        <p:spPr>
          <a:xfrm>
            <a:off x="7872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95" name="Google Shape;395;p55"/>
          <p:cNvSpPr txBox="1"/>
          <p:nvPr>
            <p:ph idx="9" type="subTitle"/>
          </p:nvPr>
        </p:nvSpPr>
        <p:spPr>
          <a:xfrm>
            <a:off x="1699232" y="3218832"/>
            <a:ext cx="6550800" cy="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Chen C-CB, Chen H, Wang Y-C. Cash, credit card, or mobile?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 Examining customer payment preferences at chain restaurants in Taiwan.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 Journal of Foodservice Business Research. 2022;25(2):148-167.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 doi:10.1080/15378020.2021.1934251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