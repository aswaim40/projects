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Proxima Nova"/>
      <p:regular r:id="rId14"/>
      <p:bold r:id="rId15"/>
      <p:italic r:id="rId16"/>
      <p:boldItalic r:id="rId17"/>
    </p:embeddedFont>
    <p:embeddedFont>
      <p:font typeface="Alfa Slab One"/>
      <p:regular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roximaNova-bold.fntdata"/><Relationship Id="rId14" Type="http://schemas.openxmlformats.org/officeDocument/2006/relationships/font" Target="fonts/ProximaNova-regular.fntdata"/><Relationship Id="rId17" Type="http://schemas.openxmlformats.org/officeDocument/2006/relationships/font" Target="fonts/ProximaNova-boldItalic.fntdata"/><Relationship Id="rId16" Type="http://schemas.openxmlformats.org/officeDocument/2006/relationships/font" Target="fonts/ProximaNova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AlfaSlabOne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fba660e2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afba660e2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fba660e21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fba660e21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fba660e21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fba660e21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fba660e2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fba660e2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fba660e21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afba660e2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fba660e21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fba660e21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fba660e21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fba660e21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bing.com/ck/a?!&amp;&amp;p=ffda74a37ce1e9e5debdd46d18c2c5d0beaed16ca6f574a7734805dada936fe4JmltdHM9MTc2NTQxMTIwMA&amp;ptn=3&amp;ver=2&amp;hsh=4&amp;fclid=14c5049e-1c34-6c9e-0618-12d11da76d20&amp;u=a1aHR0cHM6Ly93d3cuZ2Vla3Nmb3JnZWVrcy5vcmcvY29tcHV0ZXItc2NpZW5jZS1mdW5kYW1lbnRhbHMvd2hhdC1pcy1iYW5kd2lkdGgtZGVmaW5pdGlvbi13b3JraW5nLWltcG9ydGFuY2UtdXNlcy8&amp;ntb=1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bing.com/ck/a?!&amp;&amp;p=d611035f150b1e760b82d9fe04184e0283dae5b16aa3c42d1d7cd1791d910a45JmltdHM9MTc2NTQxMTIwMA&amp;ptn=3&amp;ver=2&amp;hsh=4&amp;fclid=14c5049e-1c34-6c9e-0618-12d11da76d20&amp;u=a1aHR0cHM6Ly93d3cuY3MuY29sb3N0YXRlLmVkdS9-Y3MzNzAvU3ByaW5nMjQvbGVjdHVyZXMvQ1MzNzAtTDIwLU1lbW9yeU1hbmFnZW1lbnQtUGFydEIucGRm&amp;ntb=1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olab.research.google.com/drive/1VSKkFucO1rYl_fHR8Cl2eA5Uk4agsHKy?usp=drive-dynamite#scrollTo=gOVy6bnx2vJH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cl.cam.ac.uk/research/srg/netos/papers/2003-xensosp.pdf?utm_source=chatgpt.com" TargetMode="External"/><Relationship Id="rId4" Type="http://schemas.openxmlformats.org/officeDocument/2006/relationships/hyperlink" Target="https://www.cl.cam.ac.uk/research/srg/netos/papers/2003-xensosp.pdf" TargetMode="External"/><Relationship Id="rId9" Type="http://schemas.openxmlformats.org/officeDocument/2006/relationships/hyperlink" Target="https://pandas.pydata.org/docs/" TargetMode="External"/><Relationship Id="rId5" Type="http://schemas.openxmlformats.org/officeDocument/2006/relationships/hyperlink" Target="https://numpy.org/devdocs/reference/arrays.ndarray.html?utm_source=chatgpt.com" TargetMode="External"/><Relationship Id="rId6" Type="http://schemas.openxmlformats.org/officeDocument/2006/relationships/hyperlink" Target="https://numpy.org/doc/2.1/reference/generated/numpy.array.html?utm_source=chatgpt.com" TargetMode="External"/><Relationship Id="rId7" Type="http://schemas.openxmlformats.org/officeDocument/2006/relationships/hyperlink" Target="https://matplotlib.org/stable/" TargetMode="External"/><Relationship Id="rId8" Type="http://schemas.openxmlformats.org/officeDocument/2006/relationships/hyperlink" Target="https://docs.python.org/3/library/math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Times New Roman"/>
                <a:ea typeface="Times New Roman"/>
                <a:cs typeface="Times New Roman"/>
                <a:sym typeface="Times New Roman"/>
              </a:rPr>
              <a:t>Buses and </a:t>
            </a:r>
            <a:r>
              <a:rPr lang="en" sz="6000">
                <a:latin typeface="Times New Roman"/>
                <a:ea typeface="Times New Roman"/>
                <a:cs typeface="Times New Roman"/>
                <a:sym typeface="Times New Roman"/>
              </a:rPr>
              <a:t>Bandwidth</a:t>
            </a:r>
            <a:endParaRPr sz="6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Measuring the Process-Memory Gap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By : Keidrick Wooten &amp; Austin Swaim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120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5850">
                <a:latin typeface="Times New Roman"/>
                <a:ea typeface="Times New Roman"/>
                <a:cs typeface="Times New Roman"/>
                <a:sym typeface="Times New Roman"/>
              </a:rPr>
              <a:t>What are Buses?</a:t>
            </a:r>
            <a:endParaRPr sz="58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85500" y="1115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33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Physical connections in a computer system that allows multiple hardware </a:t>
            </a:r>
            <a:r>
              <a:rPr lang="en" sz="1533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 to communicate with one another. </a:t>
            </a:r>
            <a:endParaRPr sz="1533">
              <a:solidFill>
                <a:srgbClr val="19191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43">
              <a:solidFill>
                <a:srgbClr val="19191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Main Types of Buses</a:t>
            </a:r>
            <a:endParaRPr sz="15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Data Bus – Transfers actual data between components.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Width (e.g., 8-bit, 16-bit, 32-bit) determines how much data can be transferred at once.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Address Bus – Carries memory or I/O addresses, telling the system where to read/write data.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Control Bus – Sends control signals (e.g., read, write, clock, interrupt) to coordinate operations.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208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900">
                <a:latin typeface="Times New Roman"/>
                <a:ea typeface="Times New Roman"/>
                <a:cs typeface="Times New Roman"/>
                <a:sym typeface="Times New Roman"/>
              </a:rPr>
              <a:t>What is Bandwidth?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43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bandwidth of a bus refers to the maximum data transfer rate it can handle, which is determined by the bus width and the clock speed.</a:t>
            </a:r>
            <a:endParaRPr sz="2543">
              <a:solidFill>
                <a:srgbClr val="19191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43">
              <a:solidFill>
                <a:srgbClr val="19191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191919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Bandwidth is crucial for various applications, including web hosting, video streaming, and file transfers, as it determines how quickly data can travel from the source to the destination.</a:t>
            </a:r>
            <a:endParaRPr sz="3843">
              <a:solidFill>
                <a:srgbClr val="19191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182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latin typeface="Times New Roman"/>
                <a:ea typeface="Times New Roman"/>
                <a:cs typeface="Times New Roman"/>
                <a:sym typeface="Times New Roman"/>
              </a:rPr>
              <a:t>Analogy</a:t>
            </a:r>
            <a:endParaRPr sz="5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707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Say for Instance we have a highway</a:t>
            </a:r>
            <a:endParaRPr sz="5707">
              <a:solidFill>
                <a:srgbClr val="19191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707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bus in this scenario is the number of lanes the highway has</a:t>
            </a:r>
            <a:endParaRPr sz="5707">
              <a:solidFill>
                <a:srgbClr val="19191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707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" sz="5707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bandwidth</a:t>
            </a:r>
            <a:r>
              <a:rPr lang="en" sz="5707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this </a:t>
            </a:r>
            <a:r>
              <a:rPr lang="en" sz="5707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scenario</a:t>
            </a:r>
            <a:r>
              <a:rPr lang="en" sz="5707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 number of cars that can travel through the</a:t>
            </a:r>
            <a:endParaRPr sz="5707">
              <a:solidFill>
                <a:srgbClr val="19191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707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Highway</a:t>
            </a:r>
            <a:r>
              <a:rPr lang="en" sz="5707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per hour</a:t>
            </a:r>
            <a:endParaRPr sz="5707">
              <a:solidFill>
                <a:srgbClr val="19191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707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clock frequency is the speed limit of the highway</a:t>
            </a:r>
            <a:endParaRPr sz="5707">
              <a:solidFill>
                <a:srgbClr val="19191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707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exactly like an 8-bit vs 16-bit vs 64-bit memory bus. </a:t>
            </a:r>
            <a:endParaRPr sz="5707">
              <a:solidFill>
                <a:srgbClr val="19191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95500" y="2841123"/>
            <a:ext cx="1837550" cy="150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000">
                <a:latin typeface="Times New Roman"/>
                <a:ea typeface="Times New Roman"/>
                <a:cs typeface="Times New Roman"/>
                <a:sym typeface="Times New Roman"/>
              </a:rPr>
              <a:t>What is the process memory gap?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91919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The memory-process gap refers to the difference in speed between the processing capabilities of a CPU and the speed of memory</a:t>
            </a:r>
            <a:r>
              <a:rPr lang="en" sz="2600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600">
              <a:solidFill>
                <a:srgbClr val="19191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crucial for memory management and performance optimization.</a:t>
            </a:r>
            <a:endParaRPr sz="2200">
              <a:solidFill>
                <a:srgbClr val="19191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25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1"/>
              <a:buFont typeface="Arial"/>
              <a:buNone/>
            </a:pPr>
            <a:r>
              <a:rPr lang="en" sz="4000">
                <a:latin typeface="Times New Roman"/>
                <a:ea typeface="Times New Roman"/>
                <a:cs typeface="Times New Roman"/>
                <a:sym typeface="Times New Roman"/>
              </a:rPr>
              <a:t>Why does this happen?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CPU Speed: 3–5 GHz (billions of cycles/sec)</a:t>
            </a:r>
            <a:endParaRPr>
              <a:solidFill>
                <a:srgbClr val="19191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Memory Speed: Much slower, only hundreds of millions of operations/sec</a:t>
            </a:r>
            <a:endParaRPr>
              <a:solidFill>
                <a:srgbClr val="19191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Result: CPU often waits for data which leads to stalling and lower performance</a:t>
            </a:r>
            <a:endParaRPr>
              <a:solidFill>
                <a:srgbClr val="19191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example the Cpu is Super-fast sports car (300 mph)</a:t>
            </a:r>
            <a:endParaRPr>
              <a:solidFill>
                <a:srgbClr val="19191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 Memory is a Slow gas pump</a:t>
            </a:r>
            <a:endParaRPr>
              <a:solidFill>
                <a:srgbClr val="19191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car spends more time waiting for fuel than driving.</a:t>
            </a:r>
            <a:endParaRPr>
              <a:solidFill>
                <a:srgbClr val="19191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Simulation Goal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91919"/>
                </a:solidFill>
              </a:rPr>
              <a:t>Evaluate how:</a:t>
            </a:r>
            <a:endParaRPr sz="1600">
              <a:solidFill>
                <a:srgbClr val="191919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191919"/>
              </a:buClr>
              <a:buSzPts val="1600"/>
              <a:buChar char="●"/>
            </a:pPr>
            <a:r>
              <a:rPr lang="en" sz="1600">
                <a:solidFill>
                  <a:srgbClr val="191919"/>
                </a:solidFill>
              </a:rPr>
              <a:t>Bus width (8-bit vs 16-bit)</a:t>
            </a:r>
            <a:br>
              <a:rPr lang="en" sz="1600">
                <a:solidFill>
                  <a:srgbClr val="191919"/>
                </a:solidFill>
              </a:rPr>
            </a:br>
            <a:endParaRPr sz="1600">
              <a:solidFill>
                <a:srgbClr val="191919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600"/>
              <a:buChar char="●"/>
            </a:pPr>
            <a:r>
              <a:rPr lang="en" sz="1600">
                <a:solidFill>
                  <a:srgbClr val="191919"/>
                </a:solidFill>
              </a:rPr>
              <a:t>Clock frequency (50–400 MHz)</a:t>
            </a:r>
            <a:br>
              <a:rPr lang="en" sz="1600">
                <a:solidFill>
                  <a:srgbClr val="191919"/>
                </a:solidFill>
              </a:rPr>
            </a:br>
            <a:r>
              <a:rPr lang="en" sz="1600">
                <a:solidFill>
                  <a:srgbClr val="191919"/>
                </a:solidFill>
              </a:rPr>
              <a:t> affect effective bandwidth for different transfer sizes.</a:t>
            </a:r>
            <a:br>
              <a:rPr lang="en" sz="1600">
                <a:solidFill>
                  <a:srgbClr val="191919"/>
                </a:solidFill>
              </a:rPr>
            </a:br>
            <a:endParaRPr sz="1600">
              <a:solidFill>
                <a:srgbClr val="19191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91919"/>
                </a:solidFill>
              </a:rPr>
              <a:t>Transfer sizes tested:</a:t>
            </a:r>
            <a:br>
              <a:rPr lang="en" sz="1600">
                <a:solidFill>
                  <a:srgbClr val="191919"/>
                </a:solidFill>
              </a:rPr>
            </a:br>
            <a:r>
              <a:rPr lang="en" sz="1600">
                <a:solidFill>
                  <a:srgbClr val="191919"/>
                </a:solidFill>
              </a:rPr>
              <a:t> 16 B → 1 MB.</a:t>
            </a:r>
            <a:endParaRPr sz="1600">
              <a:solidFill>
                <a:srgbClr val="19191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Colab Code - Colab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500">
                <a:latin typeface="Times New Roman"/>
                <a:ea typeface="Times New Roman"/>
                <a:cs typeface="Times New Roman"/>
                <a:sym typeface="Times New Roman"/>
              </a:rPr>
              <a:t>Citations</a:t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Barham, P., Dragovic, B., Fraser, K., Hand, S., Harris, T., Ho, A., et al. (2003). “Xen and the Art of Virtualization.” Proceedings of the 19th ACM Symposium on Operating Systems Principles (SOSP).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PDF:</a:t>
            </a:r>
            <a:r>
              <a:rPr lang="en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https://www.cl.cam.ac.uk/research/srg/netos/papers/2003-xensosp.pdf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NumPy Developers. “The N-dimensional array (ndarray).” NumPy Documentation.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https://numpy.org/devdocs/reference/arrays.ndarray.html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NumPy Developers. “numpy.array — Create an array.” NumPy Documentation.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https://numpy.org/doc/2.1/reference/generated/numpy.array.htm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Matplotlib Developers.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Matplotlib Documentation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https://matplotlib.org/stable/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Python Software Foundation.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Python 3 Standard Library Documentation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https://docs.python.org/3/library/math.html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McKinney, Wes.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Python for Data Analysis: Data Wrangling with Pandas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O’Reilly Media, 2017.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9"/>
              </a:rPr>
              <a:t>https://pandas.pydata.org/docs/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med">
        <p14:gallery dir="l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